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153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C31CA-F659-8229-C914-DA1839D07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9D36C-5CB5-075F-E17B-3F83F3A2D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81A3C-74BC-6A29-1DF2-924EEAF5E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AB704-1586-2D9B-5C87-81948C35FF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4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B4F72">
              <a:alpha val="30000"/>
            </a:srgbClr>
          </a:solidFill>
          <a:ln w="12700">
            <a:solidFill>
              <a:srgbClr val="1B4F7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82880"/>
            <a:ext cx="1828800" cy="18288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Sunburn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Patch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02920" y="3063240"/>
            <a:ext cx="5029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2004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Systems Packaging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611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Siddhant Deore  |  IIIT Bangalore  |  Apr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4114800"/>
            <a:ext cx="274320" cy="274320"/>
          </a:xfrm>
          <a:prstGeom prst="ellipse">
            <a:avLst/>
          </a:prstGeom>
          <a:solidFill>
            <a:srgbClr val="17A589">
              <a:alpha val="30000"/>
            </a:srgbClr>
          </a:solidFill>
          <a:ln w="12700">
            <a:solidFill>
              <a:srgbClr val="17A589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3977640"/>
            <a:ext cx="365760" cy="365760"/>
          </a:xfrm>
          <a:prstGeom prst="ellipse">
            <a:avLst/>
          </a:prstGeom>
          <a:solidFill>
            <a:srgbClr val="17A589">
              <a:alpha val="30000"/>
            </a:srgbClr>
          </a:solidFill>
          <a:ln w="12700">
            <a:solidFill>
              <a:srgbClr val="17A589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3840480"/>
            <a:ext cx="457200" cy="457200"/>
          </a:xfrm>
          <a:prstGeom prst="ellipse">
            <a:avLst/>
          </a:prstGeom>
          <a:solidFill>
            <a:srgbClr val="17A589">
              <a:alpha val="30000"/>
            </a:srgbClr>
          </a:solidFill>
          <a:ln w="12700">
            <a:solidFill>
              <a:srgbClr val="17A589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040" y="3703320"/>
            <a:ext cx="548640" cy="548640"/>
          </a:xfrm>
          <a:prstGeom prst="ellipse">
            <a:avLst/>
          </a:prstGeom>
          <a:solidFill>
            <a:srgbClr val="17A589">
              <a:alpha val="30000"/>
            </a:srgbClr>
          </a:solidFill>
          <a:ln w="12700">
            <a:solidFill>
              <a:srgbClr val="17A589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51760" cy="347472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6517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Radiation Risk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UV exposure is a leading cause of sunburn, premature ageing, and long-term skin damage including melanoma.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51760" cy="347472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2651760" cy="54864"/>
          </a:xfrm>
          <a:prstGeom prst="rect">
            <a:avLst/>
          </a:prstGeom>
          <a:solidFill>
            <a:srgbClr val="17A589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51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👁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91840" y="1737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Hazard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2860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perceive UV intensity in real time. Cloud cover and reflective surfaces create misleading conditions.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914400"/>
            <a:ext cx="2651760" cy="347472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914400"/>
            <a:ext cx="265176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051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📡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72200" y="1737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Wearable Solution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2860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(UV index apps) are coarse, location-based, and not personalised. A compact, body-worn monitor is missing.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 compact, wearable, real-time UV monitoring solution is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14800" cy="4023360"/>
          </a:xfrm>
          <a:prstGeom prst="rect">
            <a:avLst/>
          </a:prstGeom>
          <a:solidFill>
            <a:srgbClr val="EBF5FB"/>
          </a:solidFill>
          <a:ln w="12700">
            <a:solidFill>
              <a:srgbClr val="C8DFF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601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Sunburn Warning Patch is a wearable embedded system that continuously monitors UV exposure and environmental conditions, then alerts the user before sunburn risk becomes critical.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UV radiation in real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skin surface temperature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ambient light conditions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LED alerts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embedded system design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for accurate risk scoring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822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192024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3258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MCU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1920240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2331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ML8511 UV Sensor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337560"/>
            <a:ext cx="1920240" cy="77724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33375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TMP117 Temp Sensor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325880"/>
            <a:ext cx="1920240" cy="7772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3258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BH1750 Light Sensor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2331720"/>
            <a:ext cx="192024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2331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3337560"/>
            <a:ext cx="1920240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33375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 Battery + Regulator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828800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1E844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68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(3.7V Li-Po)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1828800" cy="594360"/>
          </a:xfrm>
          <a:prstGeom prst="rect">
            <a:avLst/>
          </a:prstGeom>
          <a:solidFill>
            <a:srgbClr val="145A32"/>
          </a:solidFill>
          <a:ln w="12700">
            <a:solidFill>
              <a:srgbClr val="0E402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6916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 Regulator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(LDO)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88720" y="1508760"/>
            <a:ext cx="0" cy="182880"/>
          </a:xfrm>
          <a:prstGeom prst="line">
            <a:avLst/>
          </a:prstGeom>
          <a:noFill/>
          <a:ln w="25400">
            <a:solidFill>
              <a:srgbClr val="145A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984248"/>
            <a:ext cx="1097280" cy="0"/>
          </a:xfrm>
          <a:prstGeom prst="line">
            <a:avLst/>
          </a:prstGeom>
          <a:noFill/>
          <a:ln w="25400">
            <a:solidFill>
              <a:srgbClr val="145A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463040"/>
            <a:ext cx="2560320" cy="1371600"/>
          </a:xfrm>
          <a:prstGeom prst="rect">
            <a:avLst/>
          </a:prstGeom>
          <a:solidFill>
            <a:srgbClr val="1B4F72"/>
          </a:solidFill>
          <a:ln w="12700">
            <a:solidFill>
              <a:srgbClr val="15436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4630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1645920"/>
            <a:ext cx="1828800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16459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ML8511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Sensor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03120" y="1988820"/>
            <a:ext cx="109728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21408" y="178765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1988820"/>
            <a:ext cx="0" cy="16002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606040"/>
            <a:ext cx="1828800" cy="6858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26060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TMP117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Sensor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2948940"/>
            <a:ext cx="1097280" cy="0"/>
          </a:xfrm>
          <a:prstGeom prst="line">
            <a:avLst/>
          </a:prstGeom>
          <a:noFill/>
          <a:ln w="25400">
            <a:solidFill>
              <a:srgbClr val="17A5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21408" y="27477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2148840"/>
            <a:ext cx="0" cy="800100"/>
          </a:xfrm>
          <a:prstGeom prst="line">
            <a:avLst/>
          </a:prstGeom>
          <a:noFill/>
          <a:ln w="25400">
            <a:solidFill>
              <a:srgbClr val="17A58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566160"/>
            <a:ext cx="1828800" cy="6858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35661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BH1750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Sensor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03120" y="3909060"/>
            <a:ext cx="1097280" cy="0"/>
          </a:xfrm>
          <a:prstGeom prst="line">
            <a:avLst/>
          </a:prstGeom>
          <a:noFill/>
          <a:ln w="2540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21408" y="37078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2148840"/>
            <a:ext cx="0" cy="1760220"/>
          </a:xfrm>
          <a:prstGeom prst="line">
            <a:avLst/>
          </a:prstGeom>
          <a:noFill/>
          <a:ln w="25400">
            <a:solidFill>
              <a:srgbClr val="8E44A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1463040"/>
            <a:ext cx="18288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0" y="14630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60720" y="1805940"/>
            <a:ext cx="109728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79008" y="16047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0" y="24688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key: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737360" y="4663440"/>
            <a:ext cx="201168" cy="1645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84248" y="46177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– Analog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566160" y="4663440"/>
            <a:ext cx="201168" cy="16459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13048" y="46177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– Digital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94960" y="4663440"/>
            <a:ext cx="201168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41848" y="46177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– Digital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23760" y="4663440"/>
            <a:ext cx="201168" cy="164592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70648" y="46177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Rail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Selection &amp; Justification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128016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73152" cy="12801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778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 ML8511 — UV Sensor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2529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Analog voltage proportional to UV intensity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ADC (0–3.3V)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range: 280–390 nm (UVA + UVB) causes sunburn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122529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144475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measures UV radiation — primary sunburn driver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ADC interface; low power consumption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footprint suitable for wearable integration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207008"/>
            <a:ext cx="0" cy="822960"/>
          </a:xfrm>
          <a:prstGeom prst="line">
            <a:avLst/>
          </a:prstGeom>
          <a:noFill/>
          <a:ln w="12700">
            <a:solidFill>
              <a:srgbClr val="C8DF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240280"/>
            <a:ext cx="8595360" cy="128016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40280"/>
            <a:ext cx="73152" cy="128016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951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 TMP117 — Temperature Sensor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264261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86207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±0.1°C over full range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I²C (400 kHz), Resolution = 0.0078°C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0.0078°C {x Raw-value (16-bit)}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64261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286207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temperature reflects cumulative thermal exposure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alone does not determine sunburn severity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improves risk prediction model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2624328"/>
            <a:ext cx="0" cy="822960"/>
          </a:xfrm>
          <a:prstGeom prst="line">
            <a:avLst/>
          </a:prstGeom>
          <a:noFill/>
          <a:ln w="12700">
            <a:solidFill>
              <a:srgbClr val="C8DF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657600"/>
            <a:ext cx="8595360" cy="128016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57600"/>
            <a:ext cx="73152" cy="12801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124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BH1750 — Ambient Light Sensor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05993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2793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1–65,535 lux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I²C (400 kHz)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resolution, calibration-free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405993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427939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environmental context (indoor vs. outdoor)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validate UV sensor readings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false alerts in shaded or overcast conditions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51960" y="4041648"/>
            <a:ext cx="0" cy="822960"/>
          </a:xfrm>
          <a:prstGeom prst="line">
            <a:avLst/>
          </a:prstGeom>
          <a:noFill/>
          <a:ln w="12700">
            <a:solidFill>
              <a:srgbClr val="C8DF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Working Principle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196596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229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1965960" cy="13716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830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ML8511 measures UV intensity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TMP117 reads skin temperature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BH1750 measures ambient lux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0" y="1261872"/>
            <a:ext cx="201168" cy="0"/>
          </a:xfrm>
          <a:prstGeom prst="line">
            <a:avLst/>
          </a:prstGeom>
          <a:noFill/>
          <a:ln w="25400">
            <a:solidFill>
              <a:srgbClr val="5D6D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09728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14600" y="822960"/>
            <a:ext cx="196596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8229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514600" y="1737360"/>
            <a:ext cx="1965960" cy="13716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7830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digitises ML8511 analog output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bus transfers digital data from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TMP117 and BH1750 to MCU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1261872"/>
            <a:ext cx="201168" cy="0"/>
          </a:xfrm>
          <a:prstGeom prst="line">
            <a:avLst/>
          </a:prstGeom>
          <a:noFill/>
          <a:ln w="25400">
            <a:solidFill>
              <a:srgbClr val="5D6D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09728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822960"/>
            <a:ext cx="1965960" cy="9144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8229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709160" y="1737360"/>
            <a:ext cx="1965960" cy="13716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7830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fuses sensor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weighted risk algorithm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exposure risk level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75120" y="1261872"/>
            <a:ext cx="201168" cy="0"/>
          </a:xfrm>
          <a:prstGeom prst="line">
            <a:avLst/>
          </a:prstGeom>
          <a:noFill/>
          <a:ln w="25400">
            <a:solidFill>
              <a:srgbClr val="5D6D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109728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03720" y="822960"/>
            <a:ext cx="196596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03720" y="8229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903720" y="1737360"/>
            <a:ext cx="1965960" cy="13716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17830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 → safe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LED → caution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 + vibration → high risk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004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Output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3703320"/>
            <a:ext cx="2743200" cy="594360"/>
          </a:xfrm>
          <a:prstGeom prst="rect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" y="3703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&lt; 3, Temp normal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46120" y="3703320"/>
            <a:ext cx="2743200" cy="594360"/>
          </a:xfrm>
          <a:prstGeom prst="rect">
            <a:avLst/>
          </a:prstGeom>
          <a:solidFill>
            <a:srgbClr val="F39C12">
              <a:alpha val="80000"/>
            </a:srgbClr>
          </a:solidFill>
          <a:ln w="12700">
            <a:solidFill>
              <a:srgbClr val="F39C1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46120" y="3703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3–6, Temp elevated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3703320"/>
            <a:ext cx="2743200" cy="594360"/>
          </a:xfrm>
          <a:prstGeom prst="rect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72200" y="3703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&gt; 6, Temp high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Schematic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5303520" cy="402336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53035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Root Schematic Image Here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822960"/>
            <a:ext cx="2971800" cy="8686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52160" y="822960"/>
            <a:ext cx="64008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8778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Rail (3.3V)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115214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regulated 3.3V supply distributed to all ICs via power net.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1828800"/>
            <a:ext cx="2971800" cy="8686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1828800"/>
            <a:ext cx="64008" cy="86868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8836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Bus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215798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SDA/SCL shared between TMP117 and BH1750 with pull-up resistors (4.7 kΩ).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2834640"/>
            <a:ext cx="2971800" cy="8686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52160" y="2834640"/>
            <a:ext cx="64008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88950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Input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316382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ML8511 analog output routed to ESP32-S3 ADC GPIO pin.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3840480"/>
            <a:ext cx="2971800" cy="8686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52160" y="3840480"/>
            <a:ext cx="6400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38953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Outputs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416966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lines control LED driver and vibration motor transistor.</a:t>
            </a:r>
            <a:endParaRPr lang="en-US" sz="10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F27F906-DBE1-5331-3F8D-2BD8426E5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24324"/>
            <a:ext cx="5303520" cy="31752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Hardware Design Choices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60520" cy="12344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502920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3.3V Power Rail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25296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operate at 3.3V, simplifying power distribution and eliminating level-shifting circuitry.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160520" cy="12344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22960"/>
            <a:ext cx="502920" cy="1234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82296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9144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Mixed-Signal Design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1225296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analog front-end (ML8511 → ADC) with digital I²C peripherals in a partitioned layout to minimise interference.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240280"/>
            <a:ext cx="4160520" cy="12344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40280"/>
            <a:ext cx="502920" cy="123444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24028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3317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Bus Topology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642616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TMP117 and BH1750 share the SDA/SCL bus, reducing GPIO usage and wiring complexity on the compact PCB.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4160520" cy="12344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40280"/>
            <a:ext cx="502920" cy="12344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4028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23317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Pull-Up Resistors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642616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kΩ pull-up resistors on SDA and SCL ensure reliable I²C communication per NXP specification.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657600"/>
            <a:ext cx="4160520" cy="12344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57600"/>
            <a:ext cx="502920" cy="1234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65760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37490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Capacitors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4059936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nF ceramic capacitors placed at each IC power pin suppress high-frequency noise and ensure signal integrity.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4160520" cy="12344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57600"/>
            <a:ext cx="50292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65760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9240" y="37490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Alert Control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4059936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Transistor-driven alert outputs protect MCU pins from current overload when driving LED and vibration motor.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5029200" cy="402336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PCB Layout Image Here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32120" y="822960"/>
            <a:ext cx="329184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32120" y="822960"/>
            <a:ext cx="64008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87568" y="86868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Placement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87568" y="1124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ICs arranged within a 39 × 28 mm footprint for wearable compatibility.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32120" y="1627632"/>
            <a:ext cx="329184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32120" y="1627632"/>
            <a:ext cx="64008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87568" y="167335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Analog/Digital Separation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87568" y="192938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ML8511 analog section isolated from digital I²C area to minimise noise coupling.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32120" y="2432304"/>
            <a:ext cx="329184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32120" y="2432304"/>
            <a:ext cx="64008" cy="7132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7568" y="247802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Routing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87568" y="273405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matched-length SDA/SCL traces away from power plane switching transients.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32120" y="3236976"/>
            <a:ext cx="329184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32120" y="3236976"/>
            <a:ext cx="64008" cy="7132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87568" y="328269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Placement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87568" y="35387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nF capacitors placed within 1 mm of each IC VCC pin.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32120" y="4041648"/>
            <a:ext cx="329184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32120" y="4041648"/>
            <a:ext cx="64008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7568" y="408736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Routing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87568" y="4343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copper pours (0.5 mm+) on 3.3V rail minimise resistive voltage drop.</a:t>
            </a:r>
            <a:endParaRPr lang="en-US" sz="10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FACA08E-9A51-AC64-7A49-B9AEBDD3B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5029200" cy="40458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131575-94F2-1C9F-4558-A0CCE376A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1A8C4B-2C47-B144-9F82-8200CE3191C6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39EE4C-46EB-9336-6BD6-7DE30A7F2231}"/>
              </a:ext>
            </a:extLst>
          </p:cNvPr>
          <p:cNvSpPr/>
          <p:nvPr/>
        </p:nvSpPr>
        <p:spPr>
          <a:xfrm>
            <a:off x="36576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Design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F59B6EF-7661-0A9E-349C-2F8265B4A648}"/>
              </a:ext>
            </a:extLst>
          </p:cNvPr>
          <p:cNvSpPr/>
          <p:nvPr/>
        </p:nvSpPr>
        <p:spPr>
          <a:xfrm>
            <a:off x="804672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14EBD15-8030-73E0-24B8-B9FDFD34233A}"/>
              </a:ext>
            </a:extLst>
          </p:cNvPr>
          <p:cNvSpPr/>
          <p:nvPr/>
        </p:nvSpPr>
        <p:spPr>
          <a:xfrm>
            <a:off x="320040" y="822960"/>
            <a:ext cx="5029200" cy="402336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C20FF54-DB01-FD6A-CBA2-93D5D7124F59}"/>
              </a:ext>
            </a:extLst>
          </p:cNvPr>
          <p:cNvSpPr/>
          <p:nvPr/>
        </p:nvSpPr>
        <p:spPr>
          <a:xfrm>
            <a:off x="320040" y="82296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PCB Layout Image Here ]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BCB3484-40DB-1861-CC70-8592088CD31E}"/>
              </a:ext>
            </a:extLst>
          </p:cNvPr>
          <p:cNvSpPr/>
          <p:nvPr/>
        </p:nvSpPr>
        <p:spPr>
          <a:xfrm>
            <a:off x="5532120" y="822960"/>
            <a:ext cx="329184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C58262E-5217-3535-2F8F-FD1337638FDB}"/>
              </a:ext>
            </a:extLst>
          </p:cNvPr>
          <p:cNvSpPr/>
          <p:nvPr/>
        </p:nvSpPr>
        <p:spPr>
          <a:xfrm>
            <a:off x="5532120" y="822960"/>
            <a:ext cx="64008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270B891-09D4-1D00-D954-62565D1B9F56}"/>
              </a:ext>
            </a:extLst>
          </p:cNvPr>
          <p:cNvSpPr/>
          <p:nvPr/>
        </p:nvSpPr>
        <p:spPr>
          <a:xfrm>
            <a:off x="5687568" y="86868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Placement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4447CF4-7C26-3E48-CF50-9075A287A5E9}"/>
              </a:ext>
            </a:extLst>
          </p:cNvPr>
          <p:cNvSpPr/>
          <p:nvPr/>
        </p:nvSpPr>
        <p:spPr>
          <a:xfrm>
            <a:off x="5687568" y="1124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ICs arranged within a 39 × 28 mm footprint for wearable compatibility.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5B6CADD-8818-8211-C0CE-4D1D3C22D1ED}"/>
              </a:ext>
            </a:extLst>
          </p:cNvPr>
          <p:cNvSpPr/>
          <p:nvPr/>
        </p:nvSpPr>
        <p:spPr>
          <a:xfrm>
            <a:off x="5532120" y="1627632"/>
            <a:ext cx="329184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9F2D5FE-73BB-BC16-1D43-668AE6361CB6}"/>
              </a:ext>
            </a:extLst>
          </p:cNvPr>
          <p:cNvSpPr/>
          <p:nvPr/>
        </p:nvSpPr>
        <p:spPr>
          <a:xfrm>
            <a:off x="5532120" y="1627632"/>
            <a:ext cx="64008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B58963E-F715-515D-6697-FAFAA5543BAB}"/>
              </a:ext>
            </a:extLst>
          </p:cNvPr>
          <p:cNvSpPr/>
          <p:nvPr/>
        </p:nvSpPr>
        <p:spPr>
          <a:xfrm>
            <a:off x="5687568" y="167335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Analog/Digital Separation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BD0E1D9-2823-46E9-E93E-97D2A080241A}"/>
              </a:ext>
            </a:extLst>
          </p:cNvPr>
          <p:cNvSpPr/>
          <p:nvPr/>
        </p:nvSpPr>
        <p:spPr>
          <a:xfrm>
            <a:off x="5687568" y="192938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ML8511 analog section isolated from digital I²C area to minimise noise coupling.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4FB3B8E-968D-9AD8-80FB-6B5F685994C6}"/>
              </a:ext>
            </a:extLst>
          </p:cNvPr>
          <p:cNvSpPr/>
          <p:nvPr/>
        </p:nvSpPr>
        <p:spPr>
          <a:xfrm>
            <a:off x="5532120" y="2432304"/>
            <a:ext cx="329184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C9D6089-7453-902A-6CED-FA597B03AE75}"/>
              </a:ext>
            </a:extLst>
          </p:cNvPr>
          <p:cNvSpPr/>
          <p:nvPr/>
        </p:nvSpPr>
        <p:spPr>
          <a:xfrm>
            <a:off x="5532120" y="2432304"/>
            <a:ext cx="64008" cy="7132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F93F372-E8AB-2DCA-4757-CCAF63AF5C05}"/>
              </a:ext>
            </a:extLst>
          </p:cNvPr>
          <p:cNvSpPr/>
          <p:nvPr/>
        </p:nvSpPr>
        <p:spPr>
          <a:xfrm>
            <a:off x="5687568" y="247802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Routing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CF5E9AB-5D18-A067-1829-961CFEB7A1EA}"/>
              </a:ext>
            </a:extLst>
          </p:cNvPr>
          <p:cNvSpPr/>
          <p:nvPr/>
        </p:nvSpPr>
        <p:spPr>
          <a:xfrm>
            <a:off x="5687568" y="273405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matched-length SDA/SCL traces away from power plane switching transients.</a:t>
            </a:r>
            <a:endParaRPr lang="en-US" sz="1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C7F52D4-BF81-A309-E2EF-CFF5779F94FD}"/>
              </a:ext>
            </a:extLst>
          </p:cNvPr>
          <p:cNvSpPr/>
          <p:nvPr/>
        </p:nvSpPr>
        <p:spPr>
          <a:xfrm>
            <a:off x="5532120" y="3236976"/>
            <a:ext cx="329184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EC9079F-154D-6305-51DA-1EB05DEA94DC}"/>
              </a:ext>
            </a:extLst>
          </p:cNvPr>
          <p:cNvSpPr/>
          <p:nvPr/>
        </p:nvSpPr>
        <p:spPr>
          <a:xfrm>
            <a:off x="5532120" y="3236976"/>
            <a:ext cx="64008" cy="7132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4310BFE-3FAC-874D-30E5-808DA8957EF6}"/>
              </a:ext>
            </a:extLst>
          </p:cNvPr>
          <p:cNvSpPr/>
          <p:nvPr/>
        </p:nvSpPr>
        <p:spPr>
          <a:xfrm>
            <a:off x="5687568" y="328269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Placement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F28DE4A-3EE4-F638-3740-76281C26E4A0}"/>
              </a:ext>
            </a:extLst>
          </p:cNvPr>
          <p:cNvSpPr/>
          <p:nvPr/>
        </p:nvSpPr>
        <p:spPr>
          <a:xfrm>
            <a:off x="5687568" y="35387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nF capacitors placed within 1 mm of each IC VCC pin.</a:t>
            </a:r>
            <a:endParaRPr lang="en-US" sz="1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196EDF2-4E50-3F5C-8CBE-1BF5048F7F1A}"/>
              </a:ext>
            </a:extLst>
          </p:cNvPr>
          <p:cNvSpPr/>
          <p:nvPr/>
        </p:nvSpPr>
        <p:spPr>
          <a:xfrm>
            <a:off x="5532120" y="4041648"/>
            <a:ext cx="329184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2C4C76B-5063-D903-C2F6-AD47FF192D5D}"/>
              </a:ext>
            </a:extLst>
          </p:cNvPr>
          <p:cNvSpPr/>
          <p:nvPr/>
        </p:nvSpPr>
        <p:spPr>
          <a:xfrm>
            <a:off x="5532120" y="4041648"/>
            <a:ext cx="64008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7600F0D-2D13-F989-FBD3-2528470DF5AB}"/>
              </a:ext>
            </a:extLst>
          </p:cNvPr>
          <p:cNvSpPr/>
          <p:nvPr/>
        </p:nvSpPr>
        <p:spPr>
          <a:xfrm>
            <a:off x="5687568" y="408736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Routing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46E28EF-1A77-7A6D-B91F-7FF40880E39B}"/>
              </a:ext>
            </a:extLst>
          </p:cNvPr>
          <p:cNvSpPr/>
          <p:nvPr/>
        </p:nvSpPr>
        <p:spPr>
          <a:xfrm>
            <a:off x="5687568" y="4343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copper pours (0.5 mm+) on 3.3V rail minimise resistive voltage drop.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CDB2C6B-E2CB-2B0D-EF90-426B3DAC3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5029200" cy="403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304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12344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1234440" cy="1234440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🌞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737360" y="1005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Health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137160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wearers — hikers and outdoor enthusiasts receive personalised alerts before sunburn onset.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8503920" cy="12344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31720"/>
            <a:ext cx="1234440" cy="1234440"/>
          </a:xfrm>
          <a:prstGeom prst="rect">
            <a:avLst/>
          </a:prstGeom>
          <a:solidFill>
            <a:srgbClr val="1B4F72">
              <a:alpha val="85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3172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⚒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737360" y="2423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Occupational Safety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278892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workers, agricultural labourers, and outdoor athletes who face prolonged UV exposure benefit from continuous monitoring.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749040"/>
            <a:ext cx="8503920" cy="12344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749040"/>
            <a:ext cx="1234440" cy="1234440"/>
          </a:xfrm>
          <a:prstGeom prst="rect">
            <a:avLst/>
          </a:prstGeom>
          <a:solidFill>
            <a:srgbClr val="17A589">
              <a:alpha val="85000"/>
            </a:srgbClr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74904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🏥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737360" y="3840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Dermatology &amp; Healthcare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37360" y="420624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can track cumulative UV dose for patients with photo-sensitive conditions or post-treatment skin monitoring.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1B4F72">
              <a:alpha val="25000"/>
            </a:srgbClr>
          </a:solidFill>
          <a:ln w="12700">
            <a:solidFill>
              <a:srgbClr val="1B4F7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02920"/>
            <a:ext cx="91440" cy="4114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188720"/>
            <a:ext cx="7955280" cy="777240"/>
          </a:xfrm>
          <a:prstGeom prst="rect">
            <a:avLst/>
          </a:prstGeom>
          <a:solidFill>
            <a:srgbClr val="1B4F72">
              <a:alpha val="45000"/>
            </a:srgbClr>
          </a:solidFill>
          <a:ln w="12700">
            <a:solidFill>
              <a:srgbClr val="2E86C1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188720"/>
            <a:ext cx="64008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2435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Integration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55448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UV, temperature, and ambient light data fused for accurate, context-aware exposure monitoring.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103120"/>
            <a:ext cx="7955280" cy="777240"/>
          </a:xfrm>
          <a:prstGeom prst="rect">
            <a:avLst/>
          </a:prstGeom>
          <a:solidFill>
            <a:srgbClr val="1B4F72">
              <a:alpha val="45000"/>
            </a:srgbClr>
          </a:solidFill>
          <a:ln w="12700">
            <a:solidFill>
              <a:srgbClr val="2E86C1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103120"/>
            <a:ext cx="64008" cy="777240"/>
          </a:xfrm>
          <a:prstGeom prst="rect">
            <a:avLst/>
          </a:prstGeom>
          <a:solidFill>
            <a:srgbClr val="A9CCE3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579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Processing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246888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provides sufficient computational power for real-time sensor fusion and risk evaluation.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017520"/>
            <a:ext cx="7955280" cy="777240"/>
          </a:xfrm>
          <a:prstGeom prst="rect">
            <a:avLst/>
          </a:prstGeom>
          <a:solidFill>
            <a:srgbClr val="1B4F72">
              <a:alpha val="45000"/>
            </a:srgbClr>
          </a:solidFill>
          <a:ln w="12700">
            <a:solidFill>
              <a:srgbClr val="2E86C1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017520"/>
            <a:ext cx="64008" cy="77724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0723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Mixed-Signal Design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338328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analog ADC input and I²C digital bus with proper PCB partitioning and noise management.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931920"/>
            <a:ext cx="7955280" cy="777240"/>
          </a:xfrm>
          <a:prstGeom prst="rect">
            <a:avLst/>
          </a:prstGeom>
          <a:solidFill>
            <a:srgbClr val="1B4F72">
              <a:alpha val="45000"/>
            </a:srgbClr>
          </a:solidFill>
          <a:ln w="12700">
            <a:solidFill>
              <a:srgbClr val="2E86C1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931920"/>
            <a:ext cx="64008" cy="777240"/>
          </a:xfrm>
          <a:prstGeom prst="rect">
            <a:avLst/>
          </a:prstGeom>
          <a:solidFill>
            <a:srgbClr val="A9CCE3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9867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Platform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429768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development: BLE/Wi-Fi mobile app, UV dose history logging, and additional biometric sensors.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663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</TotalTime>
  <Words>1016</Words>
  <Application>Microsoft Office PowerPoint</Application>
  <PresentationFormat>On-screen Show (16:9)</PresentationFormat>
  <Paragraphs>210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Sunburn Warning Patch</dc:title>
  <dc:subject>PptxGenJS Presentation</dc:subject>
  <dc:creator>PptxGenJS</dc:creator>
  <cp:lastModifiedBy>Siddhant Deore</cp:lastModifiedBy>
  <cp:revision>21</cp:revision>
  <dcterms:created xsi:type="dcterms:W3CDTF">2026-04-28T11:20:50Z</dcterms:created>
  <dcterms:modified xsi:type="dcterms:W3CDTF">2026-05-08T13:45:17Z</dcterms:modified>
</cp:coreProperties>
</file>